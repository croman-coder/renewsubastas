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828800" cy="65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166533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40">
                <a:solidFill>
                  <a:srgbClr val="A1A1AA"/>
                </a:solidFill>
                <a:latin typeface="Calibri"/>
              </a:rPr>
              <a:t>MANUAL · COMPRADOR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78013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spc="-50">
                <a:solidFill>
                  <a:srgbClr val="FFFFFF"/>
                </a:solidFill>
                <a:latin typeface="Calibri"/>
              </a:rPr>
              <a:t>Comprador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49613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D4D4D8"/>
                </a:solidFill>
                <a:latin typeface="Calibri"/>
              </a:rPr>
              <a:t>Cómo participar en las subastas de Renew, pujar y, si ganás, asegurar tu vehículo.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spc="60">
                <a:solidFill>
                  <a:srgbClr val="71717A"/>
                </a:solidFill>
                <a:latin typeface="Calibri"/>
              </a:rPr>
              <a:t>Comprador</a:t>
            </a:r>
            <a:r>
              <a:rPr sz="900" b="0">
                <a:solidFill>
                  <a:srgbClr val="52525B"/>
                </a:solidFill>
                <a:latin typeface="Calibri"/>
              </a:rPr>
              <a:t>    Santa Rosa Automotores · Paraguay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BIENVENIDA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Tu camino en pocas palabras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Entrás: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con la cuenta que te crea el equipo de Renew.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605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Explorás: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catálogo de tu segmento (retail o wholesale).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275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284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Pujás:  </a:t>
            </a:r>
            <a:r>
              <a:rPr sz="1450" b="0">
                <a:solidFill>
                  <a:srgbClr val="52525B"/>
                </a:solidFill>
                <a:latin typeface="Calibri"/>
              </a:rPr>
              <a:t>en las subastas en vivo.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44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953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Ganás y pagás:  </a:t>
            </a:r>
            <a:r>
              <a:rPr sz="1450" b="0">
                <a:solidFill>
                  <a:srgbClr val="52525B"/>
                </a:solidFill>
                <a:latin typeface="Calibri"/>
              </a:rPr>
              <a:t>una seña para asegurar el vehículo.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613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Tu cuenta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Cómo entrar la primera vez.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PRIMER INGRESO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De la bienvenida a tu contraseña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Recibís el correo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«¡Bienvenido a Renew Subastas! Creá tu contraseña», con un enlace seguro.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1546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Creá tu contraseña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Tocás el enlace y definís tu clave personal.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965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Iniciás sesión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Con tu email y tu nueva contraseña entrás a la plataforma.</a:t>
            </a:r>
          </a:p>
        </p:txBody>
      </p:sp>
      <p:pic>
        <p:nvPicPr>
          <p:cNvPr id="11" name="Picture 10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066543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TU SEGMENTO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Retail o wholesale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Tu cuenta pertenece a un segmento y solo ves ese catálogo.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71717A"/>
                </a:solidFill>
                <a:latin typeface="Calibri"/>
              </a:rPr>
              <a:t>RETAIL</a:t>
            </a:r>
          </a:p>
          <a:p>
            <a:r>
              <a:rPr sz="2400" b="1" spc="-30">
                <a:solidFill>
                  <a:srgbClr val="0A0A0A"/>
                </a:solidFill>
                <a:latin typeface="Calibri"/>
              </a:rPr>
              <a:t>Público general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A1A1AA"/>
                </a:solidFill>
                <a:latin typeface="Calibri"/>
              </a:rPr>
              <a:t>WHOLESALE</a:t>
            </a:r>
          </a:p>
          <a:p>
            <a:r>
              <a:rPr sz="2400" b="1" spc="-30">
                <a:solidFill>
                  <a:srgbClr val="FFFFFF"/>
                </a:solidFill>
                <a:latin typeface="Calibri"/>
              </a:rPr>
              <a:t>Mayorista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51960"/>
            <a:ext cx="10509199" cy="694944"/>
          </a:xfrm>
          <a:prstGeom prst="roundRect">
            <a:avLst>
              <a:gd name="adj" fmla="val 12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AFAFA"/>
                </a:solidFill>
                <a:latin typeface="Calibri"/>
              </a:rPr>
              <a:t>No te preocupes por elegir: ves automáticamente las subastas que te corresponden.</a:t>
            </a:r>
          </a:p>
        </p:txBody>
      </p:sp>
      <p:pic>
        <p:nvPicPr>
          <p:cNvPr id="9" name="Picture 8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Explorar y pujar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El corazón de la experiencia.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EXPLORAR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spc="-40">
                <a:solidFill>
                  <a:srgbClr val="0A0A0A"/>
                </a:solidFill>
                <a:latin typeface="Calibri"/>
              </a:rPr>
              <a:t>Ver un vehículo y su subasta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414016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95728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Abrí el catálogo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Recorrés los vehículos disponibles de tu segmento.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328416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10128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Entrá al detalle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Ves fotos, especificaciones y la descripción del vehículo.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242816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24528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Mirá la subasta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Precio actual, oferta mínima, incremento y cuánto tiempo queda.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932688"/>
            <a:ext cx="4931359" cy="5010912"/>
          </a:xfrm>
          <a:prstGeom prst="roundRect">
            <a:avLst>
              <a:gd name="adj" fmla="val 4000"/>
            </a:avLst>
          </a:prstGeom>
          <a:solidFill>
            <a:srgbClr val="F1F1F3"/>
          </a:solidFill>
          <a:ln w="1270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71717A"/>
                </a:solidFill>
                <a:latin typeface="Calibri"/>
              </a:rPr>
              <a:t>CAPTURA PENDIENTE</a:t>
            </a:r>
          </a:p>
          <a:p>
            <a:pPr algn="ctr"/>
            <a:r>
              <a:rPr sz="1050" b="0">
                <a:solidFill>
                  <a:srgbClr val="A1A1AA"/>
                </a:solidFill>
                <a:latin typeface="Calibri"/>
              </a:rPr>
              <a:t>Catálogo y detalle de vehículo</a:t>
            </a:r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PUJAR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spc="-40">
                <a:solidFill>
                  <a:srgbClr val="0A0A0A"/>
                </a:solidFill>
                <a:latin typeface="Calibri"/>
              </a:rPr>
              <a:t>Cómo hacer una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38528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52525B"/>
                </a:solidFill>
                <a:latin typeface="Calibri"/>
              </a:rPr>
              <a:t>Cuando la subasta está en vivo, podés ofertar en segundos.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33472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15184"/>
            <a:ext cx="449884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Mirá el mínimo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La oferta debe alcanzar el mínimo: precio actual más el incremento (o el precio inicial si nadie pujó).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483864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65576"/>
            <a:ext cx="449884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Usá los botones rápidos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Ofertá el mínimo, mínimo + un incremento o mínimo + dos, con un toque.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334256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315968"/>
            <a:ext cx="449884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O ingresá un monto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Si está habilitado, escribís el monto que quieras (dentro de los límites).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5184648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166360"/>
            <a:ext cx="449884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Confirmá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Si sos el mejor postor, ves «Sos el mejor postor por ahora».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932688"/>
            <a:ext cx="4931359" cy="5010912"/>
          </a:xfrm>
          <a:prstGeom prst="roundRect">
            <a:avLst>
              <a:gd name="adj" fmla="val 4000"/>
            </a:avLst>
          </a:prstGeom>
          <a:solidFill>
            <a:srgbClr val="F1F1F3"/>
          </a:solidFill>
          <a:ln w="1270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71717A"/>
                </a:solidFill>
                <a:latin typeface="Calibri"/>
              </a:rPr>
              <a:t>CAPTURA PENDIENTE</a:t>
            </a:r>
          </a:p>
          <a:p>
            <a:pPr algn="ctr"/>
            <a:r>
              <a:rPr sz="1050" b="0">
                <a:solidFill>
                  <a:srgbClr val="A1A1AA"/>
                </a:solidFill>
                <a:latin typeface="Calibri"/>
              </a:rPr>
              <a:t>Panel de pujas</a:t>
            </a:r>
          </a:p>
        </p:txBody>
      </p:sp>
      <p:pic>
        <p:nvPicPr>
          <p:cNvPr id="15" name="Picture 14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TE SUPERARON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Cuando alguien ofrece 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No te quedás sin enterarte.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Te llega un correo:  </a:t>
            </a:r>
            <a:r>
              <a:rPr sz="1450" b="0">
                <a:solidFill>
                  <a:srgbClr val="52525B"/>
                </a:solidFill>
                <a:latin typeface="Calibri"/>
              </a:rPr>
              <a:t>«Te superaron · {vehículo}», con tu oferta y la nueva oferta líder.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Volvé a pujar:  </a:t>
            </a:r>
            <a:r>
              <a:rPr sz="1450" b="0">
                <a:solidFill>
                  <a:srgbClr val="52525B"/>
                </a:solidFill>
                <a:latin typeface="Calibri"/>
              </a:rPr>
              <a:t>Tocás el enlace y subís tu oferta si aún querés el vehículo.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Push opcional:  </a:t>
            </a:r>
            <a:r>
              <a:rPr sz="1450" b="0">
                <a:solidFill>
                  <a:srgbClr val="52525B"/>
                </a:solidFill>
                <a:latin typeface="Calibri"/>
              </a:rPr>
              <a:t>También podés recibir avisos en el navegador si los activás.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Ganar y pagar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Asegurá tu vehículo con la seña.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¡GANASTE!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spc="-40">
                <a:solidFill>
                  <a:srgbClr val="0A0A0A"/>
                </a:solidFill>
                <a:latin typeface="Calibri"/>
              </a:rPr>
              <a:t>Qué pasa cuando ganás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1938528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Recibís el correo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«¡Ganaste la subasta! {vehículo}», con el monto, la seña y los datos para pagar.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52928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Abrí tu página de ganador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Ves el vehículo, el precio final, la seña a pagar, los datos bancarios y el plazo.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767328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490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Transferí la seña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A la cuenta bancaria que se muestra, dentro del plazo indicado.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681728"/>
            <a:ext cx="402336" cy="40233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663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0A0A0A"/>
                </a:solidFill>
                <a:latin typeface="Calibri"/>
              </a:rPr>
              <a:t>Subí el comprobante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52525B"/>
                </a:solidFill>
                <a:latin typeface="Calibri"/>
              </a:rPr>
              <a:t>Adjuntás el recibo desde la misma página. Listo: el equipo lo verifica.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932688"/>
            <a:ext cx="4931359" cy="5010912"/>
          </a:xfrm>
          <a:prstGeom prst="roundRect">
            <a:avLst>
              <a:gd name="adj" fmla="val 4000"/>
            </a:avLst>
          </a:prstGeom>
          <a:solidFill>
            <a:srgbClr val="F1F1F3"/>
          </a:solidFill>
          <a:ln w="1270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71717A"/>
                </a:solidFill>
                <a:latin typeface="Calibri"/>
              </a:rPr>
              <a:t>CAPTURA PENDIENTE</a:t>
            </a:r>
          </a:p>
          <a:p>
            <a:pPr algn="ctr"/>
            <a:r>
              <a:rPr sz="1050" b="0">
                <a:solidFill>
                  <a:srgbClr val="A1A1AA"/>
                </a:solidFill>
                <a:latin typeface="Calibri"/>
              </a:rPr>
              <a:t>Página de ganador</a:t>
            </a:r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LA SEÑA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Cuánto y hasta cuándo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945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A1A1AA"/>
                </a:solidFill>
                <a:latin typeface="Calibri"/>
              </a:rPr>
              <a:t>MONTO</a:t>
            </a:r>
          </a:p>
          <a:p>
            <a:r>
              <a:rPr sz="2400" b="1" spc="-30">
                <a:solidFill>
                  <a:srgbClr val="FFFFFF"/>
                </a:solidFill>
                <a:latin typeface="Calibri"/>
              </a:rPr>
              <a:t>Seña del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1945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71717A"/>
                </a:solidFill>
                <a:latin typeface="Calibri"/>
              </a:rPr>
              <a:t>PLAZO</a:t>
            </a:r>
          </a:p>
          <a:p>
            <a:r>
              <a:rPr sz="2400" b="1" spc="-30">
                <a:solidFill>
                  <a:srgbClr val="0A0A0A"/>
                </a:solidFill>
                <a:latin typeface="Calibri"/>
              </a:rPr>
              <a:t>Cuenta regresiva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794760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92400E"/>
                </a:solidFill>
                <a:latin typeface="Calibri"/>
              </a:rPr>
              <a:t>No te demores  </a:t>
            </a:r>
            <a:r>
              <a:rPr sz="1250" b="0">
                <a:solidFill>
                  <a:srgbClr val="92400E"/>
                </a:solidFill>
                <a:latin typeface="Calibri"/>
              </a:rPr>
              <a:t>Si no pagás antes del plazo, perdés la reserva y el vehículo vuelve a estar disponible para otros.</a:t>
            </a:r>
          </a:p>
        </p:txBody>
      </p:sp>
      <p:pic>
        <p:nvPicPr>
          <p:cNvPr id="8" name="Picture 7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066543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SI NO GANÁS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Perder o reserva no alcanzada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No siempre se gana, y está bien: siempre hay más oportunidades.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Te superaron al cierre:  </a:t>
            </a:r>
            <a:r>
              <a:rPr sz="1450" b="0">
                <a:solidFill>
                  <a:srgbClr val="52525B"/>
                </a:solidFill>
                <a:latin typeface="Calibri"/>
              </a:rPr>
              <a:t>otro postor ofreció más. El vehículo es para esa persona.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Reserva no alcanzada:  </a:t>
            </a:r>
            <a:r>
              <a:rPr sz="1450" b="0">
                <a:solidFill>
                  <a:srgbClr val="52525B"/>
                </a:solidFill>
                <a:latin typeface="Calibri"/>
              </a:rPr>
              <a:t>hubo ofertas pero no llegaron al mínimo de venta; nadie se lo lleva esta vez.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Volvé a intentar: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vehículo puede re-subastarse, y siempre entran nuevas unidades.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NOTIFICACIONES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Mantenete al tanto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Nueva subasta:  </a:t>
            </a:r>
            <a:r>
              <a:rPr sz="1450" b="0">
                <a:solidFill>
                  <a:srgbClr val="52525B"/>
                </a:solidFill>
                <a:latin typeface="Calibri"/>
              </a:rPr>
              <a:t>aviso cuando sale en vivo una subasta de tu segmento.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605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Te superaron: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cuando alguien supera tu oferta.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275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284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Ganaste: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cuando te adjudicás un vehículo.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44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953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Tus preferencias: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elegís qué correos y avisos querés recibir.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613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Comprador ·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86000"/>
            <a:ext cx="1554480" cy="554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297343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spc="-40">
                <a:solidFill>
                  <a:srgbClr val="FFFFFF"/>
                </a:solidFill>
                <a:latin typeface="Calibri"/>
              </a:rPr>
              <a:t>Listo para pujar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11743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Encontrá tu próximo vehículo en Renew Subastas.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95791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Renew Subastas · Santa Rosa Automotores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