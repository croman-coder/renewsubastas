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1828800" cy="651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166533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spc="140">
                <a:solidFill>
                  <a:srgbClr val="A1A1AA"/>
                </a:solidFill>
                <a:latin typeface="Calibri"/>
              </a:rPr>
              <a:t>MANUAL · COMPRADOR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78013"/>
            <a:ext cx="1050919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600" b="1" spc="-50">
                <a:solidFill>
                  <a:srgbClr val="FFFFFF"/>
                </a:solidFill>
                <a:latin typeface="Calibri"/>
              </a:rPr>
              <a:t>Comprador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49613"/>
            <a:ext cx="749807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D4D4D8"/>
                </a:solidFill>
                <a:latin typeface="Calibri"/>
              </a:rPr>
              <a:t>Cómo participar en las subastas de Renew, pujar y, si ganás, asegurar tu vehículo.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6217920"/>
            <a:ext cx="105091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900" b="1" spc="60">
                <a:solidFill>
                  <a:srgbClr val="71717A"/>
                </a:solidFill>
                <a:latin typeface="Calibri"/>
              </a:rPr>
              <a:t>Comprador</a:t>
            </a:r>
            <a:r>
              <a:rPr sz="900" b="0">
                <a:solidFill>
                  <a:srgbClr val="52525B"/>
                </a:solidFill>
                <a:latin typeface="Calibri"/>
              </a:rPr>
              <a:t>    Santa Rosa Paraguay SA · Paraguay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BIENVENIDA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Tu camino en pocas palabras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Entrás:  </a:t>
            </a:r>
            <a:r>
              <a:rPr sz="1450" b="0">
                <a:solidFill>
                  <a:srgbClr val="52525B"/>
                </a:solidFill>
                <a:latin typeface="Calibri"/>
              </a:rPr>
              <a:t>con la cuenta que te crea el equipo de Renew.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605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614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Explorás: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catálogo de tu segmento (retail o wholesale).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275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284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Pujás:  </a:t>
            </a:r>
            <a:r>
              <a:rPr sz="1450" b="0">
                <a:solidFill>
                  <a:srgbClr val="52525B"/>
                </a:solidFill>
                <a:latin typeface="Calibri"/>
              </a:rPr>
              <a:t>en las subastas en vivo.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944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8953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Ganás y pagás:  </a:t>
            </a:r>
            <a:r>
              <a:rPr sz="1450" b="0">
                <a:solidFill>
                  <a:srgbClr val="52525B"/>
                </a:solidFill>
                <a:latin typeface="Calibri"/>
              </a:rPr>
              <a:t>una seña para asegurar el vehículo.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4613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Tu cuenta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Cómo entrar la primera vez.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50545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PRIMER INGRESO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De la bienvenida a tu contraseña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19456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17627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Recibís el correo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«¡Bienvenido a Renew Subastas! Creá tu contraseña», con un enlace seguro.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15468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13639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Creá tu contraseña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Tocás el enlace y definís tu clave personal.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4114800"/>
            <a:ext cx="457200" cy="457200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96512"/>
            <a:ext cx="9795967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>
                <a:solidFill>
                  <a:srgbClr val="0A0A0A"/>
                </a:solidFill>
                <a:latin typeface="Calibri"/>
              </a:rPr>
              <a:t>Iniciás sesión</a:t>
            </a:r>
          </a:p>
          <a:p>
            <a:pPr>
              <a:lnSpc>
                <a:spcPct val="128000"/>
              </a:lnSpc>
            </a:pPr>
            <a:r>
              <a:rPr sz="1250" b="0">
                <a:solidFill>
                  <a:srgbClr val="52525B"/>
                </a:solidFill>
                <a:latin typeface="Calibri"/>
              </a:rPr>
              <a:t>Con tu email y tu nueva contraseña entrás a la plataforma.</a:t>
            </a:r>
          </a:p>
        </p:txBody>
      </p:sp>
      <p:pic>
        <p:nvPicPr>
          <p:cNvPr id="11" name="Picture 10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066543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TU SEGMENTO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Retail o wholesale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Tu cuenta pertenece a un segmento y solo ves ese catálogo.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71717A"/>
                </a:solidFill>
                <a:latin typeface="Calibri"/>
              </a:rPr>
              <a:t>RETAIL</a:t>
            </a:r>
          </a:p>
          <a:p>
            <a:r>
              <a:rPr sz="2400" b="1" spc="-30">
                <a:solidFill>
                  <a:srgbClr val="0A0A0A"/>
                </a:solidFill>
                <a:latin typeface="Calibri"/>
              </a:rPr>
              <a:t>Público general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0147" y="26517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A1A1AA"/>
                </a:solidFill>
                <a:latin typeface="Calibri"/>
              </a:rPr>
              <a:t>WHOLESALE</a:t>
            </a:r>
          </a:p>
          <a:p>
            <a:r>
              <a:rPr sz="2400" b="1" spc="-30">
                <a:solidFill>
                  <a:srgbClr val="FFFFFF"/>
                </a:solidFill>
                <a:latin typeface="Calibri"/>
              </a:rPr>
              <a:t>Mayorista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251960"/>
            <a:ext cx="10509199" cy="694944"/>
          </a:xfrm>
          <a:prstGeom prst="roundRect">
            <a:avLst>
              <a:gd name="adj" fmla="val 12000"/>
            </a:avLst>
          </a:prstGeom>
          <a:solidFill>
            <a:srgbClr val="272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0">
                <a:solidFill>
                  <a:srgbClr val="FAFAFA"/>
                </a:solidFill>
                <a:latin typeface="Calibri"/>
              </a:rPr>
              <a:t>No te preocupes por elegir: ves automáticamente las subastas que te corresponden.</a:t>
            </a:r>
          </a:p>
        </p:txBody>
      </p:sp>
      <p:pic>
        <p:nvPicPr>
          <p:cNvPr id="9" name="Picture 8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Explorar y pujar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El corazón de la experiencia.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627632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EXPLORAR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Ver un vehículo y su subasta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241401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395728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Abrí el catálogo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Recorrés los vehículos disponibles de tu segmento.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332841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310128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Entrá al detalle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Ves fotos, especificaciones y la descripción del vehículo.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424281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224528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Mirá la subasta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Precio actual, oferta mínima, incremento y cuánto tiempo queda.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Catálogo y detalle de vehículo</a:t>
            </a:r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PUJAR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Cómo hacer una oferta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38528"/>
            <a:ext cx="51206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52525B"/>
                </a:solidFill>
                <a:latin typeface="Calibri"/>
              </a:rPr>
              <a:t>Cuando la subasta está en vivo, podés ofertar en segundos.</a:t>
            </a:r>
          </a:p>
        </p:txBody>
      </p:sp>
      <p:sp>
        <p:nvSpPr>
          <p:cNvPr id="6" name="Oval 5"/>
          <p:cNvSpPr/>
          <p:nvPr/>
        </p:nvSpPr>
        <p:spPr>
          <a:xfrm>
            <a:off x="841248" y="2633472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615184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Mirá el mínimo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La oferta debe alcanzar el mínimo: precio actual más el incremento (o el precio inicial si nadie pujó).</a:t>
            </a:r>
          </a:p>
        </p:txBody>
      </p:sp>
      <p:sp>
        <p:nvSpPr>
          <p:cNvPr id="8" name="Oval 7"/>
          <p:cNvSpPr/>
          <p:nvPr/>
        </p:nvSpPr>
        <p:spPr>
          <a:xfrm>
            <a:off x="841248" y="3483864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3465576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Usá los botones rápidos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Ofertá el mínimo, mínimo + un incremento o mínimo + dos, con un toque.</a:t>
            </a:r>
          </a:p>
        </p:txBody>
      </p:sp>
      <p:sp>
        <p:nvSpPr>
          <p:cNvPr id="10" name="Oval 9"/>
          <p:cNvSpPr/>
          <p:nvPr/>
        </p:nvSpPr>
        <p:spPr>
          <a:xfrm>
            <a:off x="841248" y="433425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315968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O ingresá un monto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Si está habilitado, escribís el monto que quieras (dentro de los límites).</a:t>
            </a:r>
          </a:p>
        </p:txBody>
      </p:sp>
      <p:sp>
        <p:nvSpPr>
          <p:cNvPr id="12" name="Oval 11"/>
          <p:cNvSpPr/>
          <p:nvPr/>
        </p:nvSpPr>
        <p:spPr>
          <a:xfrm>
            <a:off x="841248" y="518464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166360"/>
            <a:ext cx="4498848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Confirmá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Si sos el mejor postor, ves «Sos el mejor postor por ahora».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Panel de pujas</a:t>
            </a:r>
          </a:p>
        </p:txBody>
      </p:sp>
      <p:pic>
        <p:nvPicPr>
          <p:cNvPr id="15" name="Picture 14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21284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TE SUPERARON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Cuando alguien ofrece más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No te quedás sin enterarte.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Te llega un correo:  </a:t>
            </a:r>
            <a:r>
              <a:rPr sz="1450" b="0">
                <a:solidFill>
                  <a:srgbClr val="52525B"/>
                </a:solidFill>
                <a:latin typeface="Calibri"/>
              </a:rPr>
              <a:t>«Te superaron · {vehículo}», con tu oferta y la nueva oferta líder.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Volvé a pujar:  </a:t>
            </a:r>
            <a:r>
              <a:rPr sz="1450" b="0">
                <a:solidFill>
                  <a:srgbClr val="52525B"/>
                </a:solidFill>
                <a:latin typeface="Calibri"/>
              </a:rPr>
              <a:t>Tocás el enlace y subís tu oferta si aún querés el vehículo.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Push opcional:  </a:t>
            </a:r>
            <a:r>
              <a:rPr sz="1450" b="0">
                <a:solidFill>
                  <a:srgbClr val="52525B"/>
                </a:solidFill>
                <a:latin typeface="Calibri"/>
              </a:rPr>
              <a:t>También podés recibir avisos en el navegador si los activás.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2468880"/>
            <a:ext cx="105091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>
                <a:solidFill>
                  <a:srgbClr val="52525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54680"/>
            <a:ext cx="1050919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spc="-50">
                <a:solidFill>
                  <a:srgbClr val="FFFFFF"/>
                </a:solidFill>
                <a:latin typeface="Calibri"/>
              </a:rPr>
              <a:t>Ganar y pagar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97680"/>
            <a:ext cx="7772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A1A1AA"/>
                </a:solidFill>
                <a:latin typeface="Calibri"/>
              </a:rPr>
              <a:t>Asegurá tu vehículo con la seña.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77393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¡GANASTE!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5120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700" b="1" spc="-40">
                <a:solidFill>
                  <a:srgbClr val="0A0A0A"/>
                </a:solidFill>
                <a:latin typeface="Calibri"/>
              </a:rPr>
              <a:t>Qué pasa cuando ganás</a:t>
            </a:r>
          </a:p>
        </p:txBody>
      </p:sp>
      <p:sp>
        <p:nvSpPr>
          <p:cNvPr id="5" name="Oval 4"/>
          <p:cNvSpPr/>
          <p:nvPr/>
        </p:nvSpPr>
        <p:spPr>
          <a:xfrm>
            <a:off x="841248" y="19385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9202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Recibís el correo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«¡Ganaste la subasta! {vehículo}», con el monto, la seña y los datos para pagar.</a:t>
            </a:r>
          </a:p>
        </p:txBody>
      </p:sp>
      <p:sp>
        <p:nvSpPr>
          <p:cNvPr id="7" name="Oval 6"/>
          <p:cNvSpPr/>
          <p:nvPr/>
        </p:nvSpPr>
        <p:spPr>
          <a:xfrm>
            <a:off x="841248" y="28529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8346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Abrí tu página de ganador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Ves el vehículo, el precio final, la seña a pagar, los datos bancarios y el plazo.</a:t>
            </a:r>
          </a:p>
        </p:txBody>
      </p:sp>
      <p:sp>
        <p:nvSpPr>
          <p:cNvPr id="9" name="Oval 8"/>
          <p:cNvSpPr/>
          <p:nvPr/>
        </p:nvSpPr>
        <p:spPr>
          <a:xfrm>
            <a:off x="841248" y="37673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7490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Transferí la seña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A la cuenta bancaria que se muestra, dentro del plazo indicado.</a:t>
            </a:r>
          </a:p>
        </p:txBody>
      </p:sp>
      <p:sp>
        <p:nvSpPr>
          <p:cNvPr id="11" name="Oval 10"/>
          <p:cNvSpPr/>
          <p:nvPr/>
        </p:nvSpPr>
        <p:spPr>
          <a:xfrm>
            <a:off x="841248" y="4681728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4663440"/>
            <a:ext cx="44988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>
                <a:solidFill>
                  <a:srgbClr val="0A0A0A"/>
                </a:solidFill>
                <a:latin typeface="Calibri"/>
              </a:rPr>
              <a:t>Subí el comprobante</a:t>
            </a:r>
          </a:p>
          <a:p>
            <a:pPr>
              <a:lnSpc>
                <a:spcPct val="125000"/>
              </a:lnSpc>
            </a:pPr>
            <a:r>
              <a:rPr sz="1100" b="0">
                <a:solidFill>
                  <a:srgbClr val="52525B"/>
                </a:solidFill>
                <a:latin typeface="Calibri"/>
              </a:rPr>
              <a:t>Adjuntás el recibo desde la misma página. Listo: el equipo lo verifica.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19088" y="932688"/>
            <a:ext cx="4931359" cy="5010912"/>
          </a:xfrm>
          <a:prstGeom prst="roundRect">
            <a:avLst>
              <a:gd name="adj" fmla="val 4000"/>
            </a:avLst>
          </a:prstGeom>
          <a:solidFill>
            <a:srgbClr val="F1F1F3"/>
          </a:solidFill>
          <a:ln w="12700">
            <a:solidFill>
              <a:srgbClr val="A1A1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spc="120">
                <a:solidFill>
                  <a:srgbClr val="71717A"/>
                </a:solidFill>
                <a:latin typeface="Calibri"/>
              </a:rPr>
              <a:t>CAPTURA PENDIENTE</a:t>
            </a:r>
          </a:p>
          <a:p>
            <a:pPr algn="ctr"/>
            <a:r>
              <a:rPr sz="1050" b="0">
                <a:solidFill>
                  <a:srgbClr val="A1A1AA"/>
                </a:solidFill>
                <a:latin typeface="Calibri"/>
              </a:rPr>
              <a:t>Página de ganador</a:t>
            </a:r>
          </a:p>
        </p:txBody>
      </p:sp>
      <p:pic>
        <p:nvPicPr>
          <p:cNvPr id="14" name="Picture 13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LA SEÑA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Cuánto y hasta cuándo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1945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A1A1AA"/>
                </a:solidFill>
                <a:latin typeface="Calibri"/>
              </a:rPr>
              <a:t>MONTO</a:t>
            </a:r>
          </a:p>
          <a:p>
            <a:r>
              <a:rPr sz="2400" b="1" spc="-30">
                <a:solidFill>
                  <a:srgbClr val="FFFFFF"/>
                </a:solidFill>
                <a:latin typeface="Calibri"/>
              </a:rPr>
              <a:t>Seña del valor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0147" y="2194560"/>
            <a:ext cx="5140299" cy="1371600"/>
          </a:xfrm>
          <a:prstGeom prst="roundRect">
            <a:avLst>
              <a:gd name="adj" fmla="val 1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/>
          <a:lstStyle/>
          <a:p>
            <a:pPr algn="ctr"/>
            <a:r>
              <a:rPr sz="1050" b="1" spc="100">
                <a:solidFill>
                  <a:srgbClr val="71717A"/>
                </a:solidFill>
                <a:latin typeface="Calibri"/>
              </a:rPr>
              <a:t>PLAZO</a:t>
            </a:r>
          </a:p>
          <a:p>
            <a:r>
              <a:rPr sz="2400" b="1" spc="-30">
                <a:solidFill>
                  <a:srgbClr val="0A0A0A"/>
                </a:solidFill>
                <a:latin typeface="Calibri"/>
              </a:rPr>
              <a:t>Cuenta regresiva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3794760"/>
            <a:ext cx="10509199" cy="10058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237744" tIns="146304" bIns="146304"/>
          <a:lstStyle/>
          <a:p>
            <a:pPr algn="ctr">
              <a:lnSpc>
                <a:spcPct val="130000"/>
              </a:lnSpc>
            </a:pPr>
            <a:r>
              <a:rPr sz="1250" b="1">
                <a:solidFill>
                  <a:srgbClr val="92400E"/>
                </a:solidFill>
                <a:latin typeface="Calibri"/>
              </a:rPr>
              <a:t>No te demores  </a:t>
            </a:r>
            <a:r>
              <a:rPr sz="1250" b="0">
                <a:solidFill>
                  <a:srgbClr val="92400E"/>
                </a:solidFill>
                <a:latin typeface="Calibri"/>
              </a:rPr>
              <a:t>Si no pagás antes del plazo, perdés la reserva y el vehículo vuelve a estar disponible para otros.</a:t>
            </a:r>
          </a:p>
        </p:txBody>
      </p:sp>
      <p:pic>
        <p:nvPicPr>
          <p:cNvPr id="8" name="Picture 7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066543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SI NO GANÁS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Perder o reserva no alcanzada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>
                <a:solidFill>
                  <a:srgbClr val="52525B"/>
                </a:solidFill>
                <a:latin typeface="Calibri"/>
              </a:rPr>
              <a:t>No siempre se gana, y está bien: siempre hay más oportunidades.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517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Te superaron al cierre:  </a:t>
            </a:r>
            <a:r>
              <a:rPr sz="1450" b="0">
                <a:solidFill>
                  <a:srgbClr val="52525B"/>
                </a:solidFill>
                <a:latin typeface="Calibri"/>
              </a:rPr>
              <a:t>otro postor ofreció más. El vehículo es para esa persona.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2177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2186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Reserva no alcanzada:  </a:t>
            </a:r>
            <a:r>
              <a:rPr sz="1450" b="0">
                <a:solidFill>
                  <a:srgbClr val="52525B"/>
                </a:solidFill>
                <a:latin typeface="Calibri"/>
              </a:rPr>
              <a:t>hubo ofertas pero no llegaron al mínimo de venta; nadie se lo lleva esta vez.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847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7856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Volvé a intentar: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 vehículo puede re-subastarse, y siempre entran nuevas unidades.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43516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E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41248" y="841248"/>
            <a:ext cx="2505456" cy="310896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ctr"/>
            <a:r>
              <a:rPr sz="900" b="1" spc="120">
                <a:solidFill>
                  <a:srgbClr val="FFFFFF"/>
                </a:solidFill>
                <a:latin typeface="Calibri"/>
              </a:rPr>
              <a:t>NOTIFICACIONES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353312"/>
            <a:ext cx="10509199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spc="-40">
                <a:solidFill>
                  <a:srgbClr val="0A0A0A"/>
                </a:solidFill>
                <a:latin typeface="Calibri"/>
              </a:rPr>
              <a:t>Mantenete al tanto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194560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Nueva subasta:  </a:t>
            </a:r>
            <a:r>
              <a:rPr sz="1450" b="0">
                <a:solidFill>
                  <a:srgbClr val="52525B"/>
                </a:solidFill>
                <a:latin typeface="Calibri"/>
              </a:rPr>
              <a:t>aviso cuando sale en vivo una subasta de tu segmento.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760588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761488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Te superaron: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cuando alguien supera tu oferta.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3327516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3328416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Ganaste:  </a:t>
            </a:r>
            <a:r>
              <a:rPr sz="1450" b="0">
                <a:solidFill>
                  <a:srgbClr val="52525B"/>
                </a:solidFill>
                <a:latin typeface="Calibri"/>
              </a:rPr>
              <a:t>cuando te adjudicás un vehículo.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894444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3895344"/>
            <a:ext cx="1050919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50" b="1">
                <a:solidFill>
                  <a:srgbClr val="0A0A0A"/>
                </a:solidFill>
                <a:latin typeface="Calibri"/>
              </a:rPr>
              <a:t>Tus preferencias:  </a:t>
            </a:r>
            <a:r>
              <a:rPr sz="1450" b="0">
                <a:solidFill>
                  <a:srgbClr val="52525B"/>
                </a:solidFill>
                <a:latin typeface="Calibri"/>
              </a:rPr>
              <a:t>elegís qué correos y avisos querés recibir.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461372"/>
            <a:ext cx="10509199" cy="900"/>
          </a:xfrm>
          <a:prstGeom prst="rect">
            <a:avLst/>
          </a:prstGeom>
          <a:solidFill>
            <a:srgbClr val="E4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new-wordmark-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6355080"/>
            <a:ext cx="513014" cy="182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778447" y="6336792"/>
            <a:ext cx="4572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00" b="1" spc="40">
                <a:solidFill>
                  <a:srgbClr val="71717A"/>
                </a:solidFill>
                <a:latin typeface="Calibri"/>
              </a:rPr>
              <a:t>Comprador · 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enew-wordmar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286000"/>
            <a:ext cx="1554480" cy="5541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41248" y="3297343"/>
            <a:ext cx="105091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400" b="1" spc="-40">
                <a:solidFill>
                  <a:srgbClr val="FFFFFF"/>
                </a:solidFill>
                <a:latin typeface="Calibri"/>
              </a:rPr>
              <a:t>Listo para pujar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211743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Encontrá tu próximo vehículo en Renew Subastas.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595791"/>
            <a:ext cx="7772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0">
                <a:solidFill>
                  <a:srgbClr val="A1A1AA"/>
                </a:solidFill>
                <a:latin typeface="Calibri"/>
              </a:rPr>
              <a:t>Renew Subastas · Santa Rosa Paraguay 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