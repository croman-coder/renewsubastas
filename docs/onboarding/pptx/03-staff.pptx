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1828800" cy="6519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166533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40">
                <a:solidFill>
                  <a:srgbClr val="A1A1AA"/>
                </a:solidFill>
                <a:latin typeface="Calibri"/>
              </a:rPr>
              <a:t>MANUAL · ROL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78013"/>
            <a:ext cx="105091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spc="-50">
                <a:solidFill>
                  <a:srgbClr val="FFFFFF"/>
                </a:solidFill>
                <a:latin typeface="Calibri"/>
              </a:rPr>
              <a:t>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949613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D4D4D8"/>
                </a:solidFill>
                <a:latin typeface="Calibri"/>
              </a:rPr>
              <a:t>Sos quien arma el catálogo: cargás vehículos y creás las subastas. Esta es tu guía operativa.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1792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spc="60">
                <a:solidFill>
                  <a:srgbClr val="71717A"/>
                </a:solidFill>
                <a:latin typeface="Calibri"/>
              </a:rPr>
              <a:t>Staff</a:t>
            </a:r>
            <a:r>
              <a:rPr sz="900" b="0">
                <a:solidFill>
                  <a:srgbClr val="52525B"/>
                </a:solidFill>
                <a:latin typeface="Calibri"/>
              </a:rPr>
              <a:t>    Santa Rosa Automotores · Paraguay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TU 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Qué hacés como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Al iniciar sesión entrás a /staff. Tu trabajo alimenta toda la plataforma.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Cargar vehículos:  </a:t>
            </a:r>
            <a:r>
              <a:rPr sz="1450" b="0">
                <a:solidFill>
                  <a:srgbClr val="52525B"/>
                </a:solidFill>
                <a:latin typeface="Calibri"/>
              </a:rPr>
              <a:t>con fotos, especificaciones y descripción.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Crear subastas:  </a:t>
            </a:r>
            <a:r>
              <a:rPr sz="1450" b="0">
                <a:solidFill>
                  <a:srgbClr val="52525B"/>
                </a:solidFill>
                <a:latin typeface="Calibri"/>
              </a:rPr>
              <a:t>definís precio, reserva, incremento y horario.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Gestionar:  </a:t>
            </a:r>
            <a:r>
              <a:rPr sz="1450" b="0">
                <a:solidFill>
                  <a:srgbClr val="52525B"/>
                </a:solidFill>
                <a:latin typeface="Calibri"/>
              </a:rPr>
              <a:t>editás, cancelás o eliminás subastas según haga falta.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525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Seguir en vivo:  </a:t>
            </a:r>
            <a:r>
              <a:rPr sz="1450" b="0">
                <a:solidFill>
                  <a:srgbClr val="52525B"/>
                </a:solidFill>
                <a:latin typeface="Calibri"/>
              </a:rPr>
              <a:t>ves el detalle de cada subasta actualizándose en tiempo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185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Staff ·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Cargar un vehículo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El primer paso para poder subastar.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NUEVO VEHÍCULO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Desde Vehículos, botón «Nuevo». Completá las secciones del formulario.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6517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33472"/>
            <a:ext cx="979596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Audiencia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Retail (público general) o Wholesale (solo mayoristas). Define quién verá este vehículo.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328416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10128"/>
            <a:ext cx="979596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Identificación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Marca, modelo y año (obligatorios). Chapa y VIN opcionales.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005072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986784"/>
            <a:ext cx="979596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Especificaciones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Kilometraje, color, condición (nuevo/usado/dañado), transmisión y combustible.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681728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663440"/>
            <a:ext cx="979596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Descripción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Texto en español (obligatorio); inglés opcional.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5358384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40096"/>
            <a:ext cx="979596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Fotos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Hasta 20 imágenes. Arrastrá para ordenarlas; la primera es la portada.</a:t>
            </a:r>
          </a:p>
        </p:txBody>
      </p:sp>
      <p:pic>
        <p:nvPicPr>
          <p:cNvPr id="16" name="Picture 15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Staff ·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ESTADOS DEL VEHÍCULO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El ciclo de un vehículo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86000"/>
            <a:ext cx="236669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Borrador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Recién creado, todavía no publicado.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7943" y="2286000"/>
            <a:ext cx="34747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  <a:latin typeface="Calibr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5415" y="2286000"/>
            <a:ext cx="236669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Listo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Publicado al catálogo, disponible para subastar.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2110" y="2286000"/>
            <a:ext cx="34747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9582" y="2286000"/>
            <a:ext cx="236669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En subasta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Vinculado a una subasta activa.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277" y="2286000"/>
            <a:ext cx="34747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49" y="2286000"/>
            <a:ext cx="236669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Vendido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La subasta cerró con venta.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178808"/>
            <a:ext cx="10509199" cy="694944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1E40AF"/>
                </a:solidFill>
                <a:latin typeface="Calibri"/>
              </a:rPr>
              <a:t>Si una subasta se cancela o no se vende, el vehículo vuelve a «Listo» y se puede re-subastar.</a:t>
            </a:r>
          </a:p>
        </p:txBody>
      </p:sp>
      <p:pic>
        <p:nvPicPr>
          <p:cNvPr id="13" name="Picture 12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Staff ·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944368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EDITAR / ELIMINAR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Modificar o quitar un vehículo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21945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7627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Editar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Actualizás datos o fotos desde la ficha del vehículo.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15468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3639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Eliminar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Borra el vehículo y todas sus imágenes. Queda registrado en la auditoría.</a:t>
            </a:r>
          </a:p>
        </p:txBody>
      </p:sp>
      <p:pic>
        <p:nvPicPr>
          <p:cNvPr id="9" name="Picture 8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Staff ·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Crear una subasta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Poné un vehículo listo a la venta con horario.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35915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NUEVA SUBASTA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Configurar la subasta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Desde Subastas, botón «Nueva». Elegís un vehículo en estado «Listo».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6517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33472"/>
            <a:ext cx="9795967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Precio inicial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El punto de partida de las ofertas.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49758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79292"/>
            <a:ext cx="9795967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Precio de reserva (opcional)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El mínimo para vender. Debe ser igual o mayor al inicial. Si no se alcanza, no hay venta.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34340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325112"/>
            <a:ext cx="9795967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Incremento mínimo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Cuánto debe subir cada oferta respecto de la actual.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518922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170932"/>
            <a:ext cx="9795967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Inicio y fin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Fecha y hora de apertura y cierre. El fin debe ser al menos 1 minuto después del inicio.</a:t>
            </a:r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Staff ·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CÓMO SE VE EL INICIO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Programada o en vivo al instante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El estado inicial depende del horario que elijas.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51760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71717A"/>
                </a:solidFill>
                <a:latin typeface="Calibri"/>
              </a:rPr>
              <a:t>SI EL INICIO ES FUTURO</a:t>
            </a:r>
          </a:p>
          <a:p>
            <a:r>
              <a:rPr sz="2400" b="1" spc="-30">
                <a:solidFill>
                  <a:srgbClr val="0A0A0A"/>
                </a:solidFill>
                <a:latin typeface="Calibri"/>
              </a:rPr>
              <a:t>Programada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2651760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A1A1AA"/>
                </a:solidFill>
                <a:latin typeface="Calibri"/>
              </a:rPr>
              <a:t>SI EL INICIO YA PASÓ</a:t>
            </a:r>
          </a:p>
          <a:p>
            <a:r>
              <a:rPr sz="2400" b="1" spc="-30">
                <a:solidFill>
                  <a:srgbClr val="FFFFFF"/>
                </a:solidFill>
                <a:latin typeface="Calibri"/>
              </a:rPr>
              <a:t>En vivo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251960"/>
            <a:ext cx="10509199" cy="1005840"/>
          </a:xfrm>
          <a:prstGeom prst="roundRect">
            <a:avLst>
              <a:gd name="adj" fmla="val 12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AFAFA"/>
                </a:solidFill>
                <a:latin typeface="Calibri"/>
              </a:rPr>
              <a:t>Un proceso automático revisa cada minuto y pasa las subastas de programada a en vivo, y de en vivo a finalizada.</a:t>
            </a:r>
          </a:p>
        </p:txBody>
      </p:sp>
      <p:pic>
        <p:nvPicPr>
          <p:cNvPr id="9" name="Picture 8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Staff ·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GESTIONAR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Editar, cancelar, eliminar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3271" y="2194560"/>
            <a:ext cx="5885151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CUÁNDO SE PERMITE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38422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EFECTO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651760"/>
            <a:ext cx="10509199" cy="1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706624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271" y="2706624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Programada o en vivo.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8422" y="2706624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Ajustás precio de reserva u otros datos.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36409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364992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Cancelar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3271" y="3364992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Programada o en vivo.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8422" y="3364992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Detiene la subasta; el vehículo vuelve a «Listo».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02246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023360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Eliminar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3271" y="4023360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Programada, cancelada o finalizada sin venta.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8422" y="4023360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Borra la subasta. Queda en auditoría.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68082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4809744"/>
            <a:ext cx="10509199" cy="100584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991B1B"/>
                </a:solidFill>
                <a:latin typeface="Calibri"/>
              </a:rPr>
              <a:t>Protecciones  </a:t>
            </a:r>
            <a:r>
              <a:rPr sz="1250" b="0">
                <a:solidFill>
                  <a:srgbClr val="991B1B"/>
                </a:solidFill>
                <a:latin typeface="Calibri"/>
              </a:rPr>
              <a:t>No se puede eliminar una subasta vendida, ni una en vivo que ya tenga ofertas. Cancelala primero.</a:t>
            </a:r>
          </a:p>
        </p:txBody>
      </p:sp>
      <p:pic>
        <p:nvPicPr>
          <p:cNvPr id="22" name="Picture 2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Staff ·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Seguir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Monitoreo de la subasta en tiempo real.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309067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DETALLE DE SUBASTA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Lo que ves mientras corre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La pantalla de detalle se actualiza sola, sin recargar.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Oferta actual: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 monto líder y la cantidad de pujas.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Tiempo:  </a:t>
            </a:r>
            <a:r>
              <a:rPr sz="1450" b="0">
                <a:solidFill>
                  <a:srgbClr val="52525B"/>
                </a:solidFill>
                <a:latin typeface="Calibri"/>
              </a:rPr>
              <a:t>cuándo cierra; el anti-sniping puede extenderlo si hay pujas de último momento.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Estado y resultado:  </a:t>
            </a:r>
            <a:r>
              <a:rPr sz="1450" b="0">
                <a:solidFill>
                  <a:srgbClr val="52525B"/>
                </a:solidFill>
                <a:latin typeface="Calibri"/>
              </a:rPr>
              <a:t>programada, en vivo, finalizada; y el resultado al cerrar.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525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Ganador:  </a:t>
            </a:r>
            <a:r>
              <a:rPr sz="1450" b="0">
                <a:solidFill>
                  <a:srgbClr val="52525B"/>
                </a:solidFill>
                <a:latin typeface="Calibri"/>
              </a:rPr>
              <a:t>al venderse, ves nombre y correo del ganador.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185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Staff ·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Lo que el staff no puede hacer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No crea admins:  </a:t>
            </a:r>
            <a:r>
              <a:rPr sz="1450" b="0">
                <a:solidFill>
                  <a:srgbClr val="52525B"/>
                </a:solidFill>
                <a:latin typeface="Calibri"/>
              </a:rPr>
              <a:t>podés crear compradores y staff, pero no cuentas admin.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605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614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No confirma pagos:  </a:t>
            </a:r>
            <a:r>
              <a:rPr sz="1450" b="0">
                <a:solidFill>
                  <a:srgbClr val="52525B"/>
                </a:solidFill>
                <a:latin typeface="Calibri"/>
              </a:rPr>
              <a:t>la confirmación de señas es de finanzas y admin.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275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3284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No puja: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 equipo no puede ofertar, para no influir en los precios.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944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Staff ·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86000"/>
            <a:ext cx="1554480" cy="554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297343"/>
            <a:ext cx="10509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spc="-40">
                <a:solidFill>
                  <a:srgbClr val="FFFFFF"/>
                </a:solidFill>
                <a:latin typeface="Calibri"/>
              </a:rPr>
              <a:t>Listo para operar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11743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Cargá bien las fotos y los datos: es lo que enamora al comprador.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95791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Renew Subastas · Santa Rosa Automotores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