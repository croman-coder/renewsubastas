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new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03120"/>
            <a:ext cx="1828800" cy="6519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3166533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140">
                <a:solidFill>
                  <a:srgbClr val="A1A1AA"/>
                </a:solidFill>
                <a:latin typeface="Calibri"/>
              </a:rPr>
              <a:t>MANUAL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78013"/>
            <a:ext cx="1050919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 spc="-50">
                <a:solidFill>
                  <a:srgbClr val="FFFFFF"/>
                </a:solidFill>
                <a:latin typeface="Calibri"/>
              </a:rPr>
              <a:t>Cómo funciona Renew Subastas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949613"/>
            <a:ext cx="74980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D4D4D8"/>
                </a:solidFill>
                <a:latin typeface="Calibri"/>
              </a:rPr>
              <a:t>La plataforma de subastas de vehículos de Santa Rosa Automotores, explicada de principio a fin.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217920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spc="60">
                <a:solidFill>
                  <a:srgbClr val="71717A"/>
                </a:solidFill>
                <a:latin typeface="Calibri"/>
              </a:rPr>
              <a:t>General</a:t>
            </a:r>
            <a:r>
              <a:rPr sz="900" b="0">
                <a:solidFill>
                  <a:srgbClr val="52525B"/>
                </a:solidFill>
                <a:latin typeface="Calibri"/>
              </a:rPr>
              <a:t>    Santa Rosa Automotores · Paraguay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773936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Lo que vas a 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10509199" cy="426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A1A1AA"/>
                </a:solidFill>
                <a:latin typeface="Calibri"/>
              </a:rPr>
              <a:t>01   </a:t>
            </a:r>
            <a:r>
              <a:rPr sz="1500" b="0">
                <a:solidFill>
                  <a:srgbClr val="52525B"/>
                </a:solidFill>
                <a:latin typeface="Calibri"/>
              </a:rPr>
              <a:t>Qué es la plataforma y para qué sirve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62038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621280"/>
            <a:ext cx="10509199" cy="426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A1A1AA"/>
                </a:solidFill>
                <a:latin typeface="Calibri"/>
              </a:rPr>
              <a:t>02   </a:t>
            </a:r>
            <a:r>
              <a:rPr sz="1500" b="0">
                <a:solidFill>
                  <a:srgbClr val="52525B"/>
                </a:solidFill>
                <a:latin typeface="Calibri"/>
              </a:rPr>
              <a:t>Los cuatro tipos de usuario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04710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048000"/>
            <a:ext cx="10509199" cy="426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A1A1AA"/>
                </a:solidFill>
                <a:latin typeface="Calibri"/>
              </a:rPr>
              <a:t>03   </a:t>
            </a:r>
            <a:r>
              <a:rPr sz="1500" b="0">
                <a:solidFill>
                  <a:srgbClr val="52525B"/>
                </a:solidFill>
                <a:latin typeface="Calibri"/>
              </a:rPr>
              <a:t>Retail y wholesale: dos públicos separados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47382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474720"/>
            <a:ext cx="10509199" cy="426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A1A1AA"/>
                </a:solidFill>
                <a:latin typeface="Calibri"/>
              </a:rPr>
              <a:t>04   </a:t>
            </a:r>
            <a:r>
              <a:rPr sz="1500" b="0">
                <a:solidFill>
                  <a:srgbClr val="52525B"/>
                </a:solidFill>
                <a:latin typeface="Calibri"/>
              </a:rPr>
              <a:t>El flujo completo, de un vehículo a una venta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90054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901440"/>
            <a:ext cx="10509199" cy="426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A1A1AA"/>
                </a:solidFill>
                <a:latin typeface="Calibri"/>
              </a:rPr>
              <a:t>05   </a:t>
            </a:r>
            <a:r>
              <a:rPr sz="1500" b="0">
                <a:solidFill>
                  <a:srgbClr val="52525B"/>
                </a:solidFill>
                <a:latin typeface="Calibri"/>
              </a:rPr>
              <a:t>El ciclo de vida de una subasta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432726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328160"/>
            <a:ext cx="10509199" cy="426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A1A1AA"/>
                </a:solidFill>
                <a:latin typeface="Calibri"/>
              </a:rPr>
              <a:t>06   </a:t>
            </a:r>
            <a:r>
              <a:rPr sz="1500" b="0">
                <a:solidFill>
                  <a:srgbClr val="52525B"/>
                </a:solidFill>
                <a:latin typeface="Calibri"/>
              </a:rPr>
              <a:t>Las pujas, ganar y perder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75398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754880"/>
            <a:ext cx="10509199" cy="426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A1A1AA"/>
                </a:solidFill>
                <a:latin typeface="Calibri"/>
              </a:rPr>
              <a:t>07   </a:t>
            </a:r>
            <a:r>
              <a:rPr sz="1500" b="0">
                <a:solidFill>
                  <a:srgbClr val="52525B"/>
                </a:solidFill>
                <a:latin typeface="Calibri"/>
              </a:rPr>
              <a:t>El pago de la seña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518070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181600"/>
            <a:ext cx="10509199" cy="426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A1A1AA"/>
                </a:solidFill>
                <a:latin typeface="Calibri"/>
              </a:rPr>
              <a:t>08   </a:t>
            </a:r>
            <a:r>
              <a:rPr sz="1500" b="0">
                <a:solidFill>
                  <a:srgbClr val="52525B"/>
                </a:solidFill>
                <a:latin typeface="Calibri"/>
              </a:rPr>
              <a:t>Notificaciones por correo y push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560742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08320"/>
            <a:ext cx="10509199" cy="426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A1A1AA"/>
                </a:solidFill>
                <a:latin typeface="Calibri"/>
              </a:rPr>
              <a:t>09   </a:t>
            </a:r>
            <a:r>
              <a:rPr sz="1500" b="0">
                <a:solidFill>
                  <a:srgbClr val="52525B"/>
                </a:solidFill>
                <a:latin typeface="Calibri"/>
              </a:rPr>
              <a:t>Configuración de la empresa y seguridad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603414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General ·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QUÉ 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Una casa de subastas, en línea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Renew Subastas digitaliza el remate de vehículos de Santa Rosa Automotores. El equipo carga autos y programa subastas con horario; los compradores registrados ofertan en vivo desde la web.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4436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Para el equipo:  </a:t>
            </a:r>
            <a:r>
              <a:rPr sz="1450" b="0">
                <a:solidFill>
                  <a:srgbClr val="52525B"/>
                </a:solidFill>
                <a:latin typeface="Calibri"/>
              </a:rPr>
              <a:t>cargar vehículos, crear subastas, seguir las ventas y confirmar pagos, todo desde un panel.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51039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51129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Para el comprador:  </a:t>
            </a:r>
            <a:r>
              <a:rPr sz="1450" b="0">
                <a:solidFill>
                  <a:srgbClr val="52525B"/>
                </a:solidFill>
                <a:latin typeface="Calibri"/>
              </a:rPr>
              <a:t>ver el catálogo de su segmento, pujar, y pagar la seña si gana.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07732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078224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Web hoy, app mañana:  </a:t>
            </a:r>
            <a:r>
              <a:rPr sz="1450" b="0">
                <a:solidFill>
                  <a:srgbClr val="52525B"/>
                </a:solidFill>
                <a:latin typeface="Calibri"/>
              </a:rPr>
              <a:t>toda la lógica vive en el servidor, así la futura app móvil reusa exactamente las mismas reglas.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64425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General ·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Los cuatro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Cada persona ve y puede hacer únicamente lo que su rol permite.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Quién hace qué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2312023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3271" y="2194560"/>
            <a:ext cx="5885151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PARA QUÉ SIRVE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38422" y="2194560"/>
            <a:ext cx="2312023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DÓNDE ENTRA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651760"/>
            <a:ext cx="10509199" cy="1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706624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3271" y="2706624"/>
            <a:ext cx="5885151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Control total: usuarios, configuración, subastas, pagos, auditoría.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8422" y="2706624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/admin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36409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364992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3271" y="3364992"/>
            <a:ext cx="5885151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Carga vehículos y crea/gestiona subastas. No crea admins ni confirma pagos.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8422" y="3364992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/staff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02246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023360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Finanzas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3271" y="4023360"/>
            <a:ext cx="5885151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Solo pagos: ve ventas, confirma o libera señas, ve datos del ganador.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8422" y="4023360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/sales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68082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681728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Comprador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3271" y="4681728"/>
            <a:ext cx="5885151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El que puja. Ve solo el catálogo de su segmento (retail o wholesale).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8422" y="4681728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/retail o /wholesale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533919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468112"/>
            <a:ext cx="10509199" cy="1316736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46304" bIns="146304"/>
          <a:lstStyle/>
          <a:p>
            <a:pPr algn="ctr">
              <a:lnSpc>
                <a:spcPct val="130000"/>
              </a:lnSpc>
            </a:pPr>
            <a:r>
              <a:rPr sz="1250" b="1">
                <a:solidFill>
                  <a:srgbClr val="1E40AF"/>
                </a:solidFill>
                <a:latin typeface="Calibri"/>
              </a:rPr>
              <a:t>Regla clave  </a:t>
            </a:r>
            <a:r>
              <a:rPr sz="1250" b="0">
                <a:solidFill>
                  <a:srgbClr val="1E40AF"/>
                </a:solidFill>
                <a:latin typeface="Calibri"/>
              </a:rPr>
              <a:t>El rol se guarda en el token de sesión (claims). Nadie puede cambiarse el rol a sí mismo: solo un admin lo asigna.</a:t>
            </a:r>
          </a:p>
        </p:txBody>
      </p:sp>
      <p:pic>
        <p:nvPicPr>
          <p:cNvPr id="26" name="Picture 25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General ·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AUDIENCIAS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Retail y wholesale nunca se mezclan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Cada vehículo y cada subasta pertenece a un segmento. Un comprador solo ve y puja en el suyo.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Retail:  </a:t>
            </a:r>
            <a:r>
              <a:rPr sz="1450" b="0">
                <a:solidFill>
                  <a:srgbClr val="52525B"/>
                </a:solidFill>
                <a:latin typeface="Calibri"/>
              </a:rPr>
              <a:t>público general. Ve el catálogo minorista.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177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186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Wholesale:  </a:t>
            </a:r>
            <a:r>
              <a:rPr sz="1450" b="0">
                <a:solidFill>
                  <a:srgbClr val="52525B"/>
                </a:solidFill>
                <a:latin typeface="Calibri"/>
              </a:rPr>
              <a:t>mayoristas. Ve únicamente subastas mayoristas.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7847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856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Aislamiento:  </a:t>
            </a:r>
            <a:r>
              <a:rPr sz="1450" b="0">
                <a:solidFill>
                  <a:srgbClr val="52525B"/>
                </a:solidFill>
                <a:latin typeface="Calibri"/>
              </a:rPr>
              <a:t>las reglas del servidor impiden que un comprador retail vea o puje en wholesale, y viceversa.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516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General ·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El flujo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De un vehículo en el depósito a una venta confirmada.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359152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PUNTA A PUNTA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El recorrido de una venta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286000"/>
            <a:ext cx="182386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A0A0A"/>
                </a:solidFill>
                <a:latin typeface="Calibri"/>
              </a:rPr>
              <a:t>Vehículo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71717A"/>
                </a:solidFill>
                <a:latin typeface="Calibri"/>
              </a:rPr>
              <a:t>Staff lo carga con fotos y datos. Queda listo.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5110" y="2286000"/>
            <a:ext cx="347472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  <a:latin typeface="Calibri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2582" y="2286000"/>
            <a:ext cx="182386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A0A0A"/>
                </a:solidFill>
                <a:latin typeface="Calibri"/>
              </a:rPr>
              <a:t>Subasta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71717A"/>
                </a:solidFill>
                <a:latin typeface="Calibri"/>
              </a:rPr>
              <a:t>Staff la programa: precio, reserva, horario.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36444" y="2286000"/>
            <a:ext cx="347472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83916" y="2286000"/>
            <a:ext cx="182386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A0A0A"/>
                </a:solidFill>
                <a:latin typeface="Calibri"/>
              </a:rPr>
              <a:t>Pujas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71717A"/>
                </a:solidFill>
                <a:latin typeface="Calibri"/>
              </a:rPr>
              <a:t>Compradores ofertan en vivo mientras está abierta.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7778" y="2286000"/>
            <a:ext cx="347472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5250" y="2286000"/>
            <a:ext cx="182386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A0A0A"/>
                </a:solidFill>
                <a:latin typeface="Calibri"/>
              </a:rPr>
              <a:t>Cierre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71717A"/>
                </a:solidFill>
                <a:latin typeface="Calibri"/>
              </a:rPr>
              <a:t>Al llegar la hora, el sistema decide el resultado.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9112" y="2286000"/>
            <a:ext cx="347472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26584" y="2286000"/>
            <a:ext cx="182386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A0A0A"/>
                </a:solidFill>
                <a:latin typeface="Calibri"/>
              </a:rPr>
              <a:t>Pago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71717A"/>
                </a:solidFill>
                <a:latin typeface="Calibri"/>
              </a:rPr>
              <a:t>El ganador paga la seña; finanzas la confirma.</a:t>
            </a:r>
          </a:p>
        </p:txBody>
      </p:sp>
      <p:pic>
        <p:nvPicPr>
          <p:cNvPr id="14" name="Picture 13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General ·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Ciclo de vida de una subasta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Estados y resultados que puede tener.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ESTADOS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Cómo avanza, sola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Un proceso automático revisa las subastas cada minuto y las hace avanzar sin intervención.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743200"/>
            <a:ext cx="327141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A0A0A"/>
                </a:solidFill>
                <a:latin typeface="Calibri"/>
              </a:rPr>
              <a:t>Programada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71717A"/>
                </a:solidFill>
                <a:latin typeface="Calibri"/>
              </a:rPr>
              <a:t>Creada, esperando su hora de inicio.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2666" y="2743200"/>
            <a:ext cx="347472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0138" y="2743200"/>
            <a:ext cx="327141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A0A0A"/>
                </a:solidFill>
                <a:latin typeface="Calibri"/>
              </a:rPr>
              <a:t>En vivo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71717A"/>
                </a:solidFill>
                <a:latin typeface="Calibri"/>
              </a:rPr>
              <a:t>Llegó la hora: acepta pujas.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1556" y="2743200"/>
            <a:ext cx="347472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9028" y="2743200"/>
            <a:ext cx="327141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A0A0A"/>
                </a:solidFill>
                <a:latin typeface="Calibri"/>
              </a:rPr>
              <a:t>Finalizada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71717A"/>
                </a:solidFill>
                <a:latin typeface="Calibri"/>
              </a:rPr>
              <a:t>Pasó la hora de cierre: se calcula el resultado.</a:t>
            </a:r>
          </a:p>
        </p:txBody>
      </p:sp>
      <p:pic>
        <p:nvPicPr>
          <p:cNvPr id="11" name="Picture 10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General ·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Tres finales posibles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2312023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RESULTADO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3271" y="2194560"/>
            <a:ext cx="5885151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CUÁNDO OCURRE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38422" y="2194560"/>
            <a:ext cx="2312023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QUÉ PASA CON EL VEHÍCULO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651760"/>
            <a:ext cx="10509199" cy="1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706624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Vendida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3271" y="2706624"/>
            <a:ext cx="5885151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Hubo pujas y se superó la reserva (si había).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8422" y="2706624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Pasa a vendido; arranca el pago.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36409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364992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Reserva no alcanzada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3271" y="3364992"/>
            <a:ext cx="5885151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Hubo pujas pero no llegaron al precio de reserva.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8422" y="3364992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Vuelve al catálogo, re-subastable.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02246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023360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Sin ofertas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3271" y="4023360"/>
            <a:ext cx="5885151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Nadie pujó.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8422" y="4023360"/>
            <a:ext cx="231202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Vuelve al catálogo, re-subastable.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68082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4809744"/>
            <a:ext cx="10509199" cy="1316736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46304" bIns="146304"/>
          <a:lstStyle/>
          <a:p>
            <a:pPr algn="ctr">
              <a:lnSpc>
                <a:spcPct val="130000"/>
              </a:lnSpc>
            </a:pPr>
            <a:r>
              <a:rPr sz="1250" b="1">
                <a:solidFill>
                  <a:srgbClr val="92400E"/>
                </a:solidFill>
                <a:latin typeface="Calibri"/>
              </a:rPr>
              <a:t>Seña no pagada a tiempo  </a:t>
            </a:r>
            <a:r>
              <a:rPr sz="1250" b="0">
                <a:solidFill>
                  <a:srgbClr val="92400E"/>
                </a:solidFill>
                <a:latin typeface="Calibri"/>
              </a:rPr>
              <a:t>Si el ganador no paga antes del plazo, la subasta se marca como vencida (forfeited) y el vehículo vuelve a estar disponible.</a:t>
            </a:r>
          </a:p>
        </p:txBody>
      </p:sp>
      <p:pic>
        <p:nvPicPr>
          <p:cNvPr id="22" name="Picture 21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General ·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Las pujas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Cómo se oferta y cómo se protege la subasta.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PUJAR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Cómo funciona una oferta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219456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7627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Oferta mínima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La primera puja parte del precio inicial. Luego, cada oferta debe superar la actual por el incremento mínimo.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315468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13639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Botones rápidos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El comprador puede ofertar el mínimo, mínimo + un incremento, o mínimo + dos, con un toque.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411480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09651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Anti-sniping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Si alguien puja en los últimos 60 segundos, el cierre se extiende para dar tiempo a responder.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507492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05663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Te superaron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Cuando otra persona supera tu oferta, recibís un correo para volver a pujar.</a:t>
            </a:r>
          </a:p>
        </p:txBody>
      </p:sp>
      <p:pic>
        <p:nvPicPr>
          <p:cNvPr id="13" name="Picture 12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General · 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Ganar, perder y pagar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Qué sucede al cerrarse la subasta.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SI GANÁS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Asegurás el vehículo con una seña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Al cerrar una subasta vendida, el mejor postor es el ganador y se le pide un depósito para reservar la unidad.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944368"/>
            <a:ext cx="5140299" cy="13716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0896" rIns="274320"/>
          <a:lstStyle/>
          <a:p>
            <a:pPr algn="ctr"/>
            <a:r>
              <a:rPr sz="1050" b="1" spc="100">
                <a:solidFill>
                  <a:srgbClr val="A1A1AA"/>
                </a:solidFill>
                <a:latin typeface="Calibri"/>
              </a:rPr>
              <a:t>SEÑA TÍPICA</a:t>
            </a:r>
          </a:p>
          <a:p>
            <a:r>
              <a:rPr sz="2400" b="1" spc="-30">
                <a:solidFill>
                  <a:srgbClr val="FFFFFF"/>
                </a:solidFill>
                <a:latin typeface="Calibri"/>
              </a:rPr>
              <a:t>10% del valor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2944368"/>
            <a:ext cx="5140299" cy="1371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0896" rIns="274320"/>
          <a:lstStyle/>
          <a:p>
            <a:pPr algn="ctr"/>
            <a:r>
              <a:rPr sz="1050" b="1" spc="100">
                <a:solidFill>
                  <a:srgbClr val="71717A"/>
                </a:solidFill>
                <a:latin typeface="Calibri"/>
              </a:rPr>
              <a:t>PLAZO PARA PAGAR</a:t>
            </a:r>
          </a:p>
          <a:p>
            <a:r>
              <a:rPr sz="2400" b="1" spc="-30">
                <a:solidFill>
                  <a:srgbClr val="0A0A0A"/>
                </a:solidFill>
                <a:latin typeface="Calibri"/>
              </a:rPr>
              <a:t>Cuenta regresiva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544568"/>
            <a:ext cx="10509199" cy="100584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46304" bIns="146304"/>
          <a:lstStyle/>
          <a:p>
            <a:pPr algn="ctr">
              <a:lnSpc>
                <a:spcPct val="130000"/>
              </a:lnSpc>
            </a:pPr>
            <a:r>
              <a:rPr sz="1250" b="1">
                <a:solidFill>
                  <a:srgbClr val="166534"/>
                </a:solidFill>
                <a:latin typeface="Calibri"/>
              </a:rPr>
              <a:t>Página de ganador  </a:t>
            </a:r>
            <a:r>
              <a:rPr sz="1250" b="0">
                <a:solidFill>
                  <a:srgbClr val="166534"/>
                </a:solidFill>
                <a:latin typeface="Calibri"/>
              </a:rPr>
              <a:t>El ganador ve los datos bancarios, el monto, el plazo y un botón para subir el comprobante.</a:t>
            </a:r>
          </a:p>
        </p:txBody>
      </p:sp>
      <p:pic>
        <p:nvPicPr>
          <p:cNvPr id="9" name="Picture 8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General · 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EL PAGO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De la transferencia a la confirmación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219456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7627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El ganador transfiere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A la cuenta bancaria que muestra la plataforma (configurada por la empresa).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315468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13639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Sube el comprobante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Adjunta el recibo desde la página de ganador. Se guarda de forma segura.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411480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09651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Finanzas recibe aviso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Llega un correo con todos los datos del vehículo, el comprador y el comprobante adjunto.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507492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05663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Finanzas confirma o libera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Marca el pago como confirmado, o lo libera si no corresponde (el vehículo vuelve al catálogo).</a:t>
            </a:r>
          </a:p>
        </p:txBody>
      </p:sp>
      <p:pic>
        <p:nvPicPr>
          <p:cNvPr id="13" name="Picture 12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General · 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Notificaciones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La plataforma avisa en cada momento clave.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CORREOS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Correos automáticos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2312023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CUÁNDO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3271" y="2194560"/>
            <a:ext cx="5885151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A QUIÉN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38422" y="2194560"/>
            <a:ext cx="2312023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ASUNTO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651760"/>
            <a:ext cx="10509199" cy="1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706624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Se crea la cuenta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3271" y="2706624"/>
            <a:ext cx="5885151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Nuevo usuario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8422" y="2706624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¡Bienvenido a Renew Subastas! Creá tu contraseña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27265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273552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Restablecer contraseña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3271" y="3273552"/>
            <a:ext cx="5885151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Usuario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8422" y="3273552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Restablecé tu contraseña · Renew Subastas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383958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840480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Te superaron en una puja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3271" y="3840480"/>
            <a:ext cx="5885151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Postor anterior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8422" y="3840480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Te superaron · {vehículo}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40650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407408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Ganaste una subasta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3271" y="4407408"/>
            <a:ext cx="5885151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Ganador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8422" y="4407408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¡Ganaste la subasta! {vehículo}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497343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974336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Llega un comprobante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3271" y="4974336"/>
            <a:ext cx="5885151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Administración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8422" y="4974336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Comprobante RNW-XXXXXX · {vehículo} · {comprador}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554036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" y="5669280"/>
            <a:ext cx="10509199" cy="694944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46304" bIns="146304"/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1E40AF"/>
                </a:solidFill>
                <a:latin typeface="Calibri"/>
              </a:rPr>
              <a:t>Los correos salen desde subastas@santarosaparaguay.com.py, con el diseño de marca de Renew.</a:t>
            </a:r>
          </a:p>
        </p:txBody>
      </p:sp>
      <p:pic>
        <p:nvPicPr>
          <p:cNvPr id="30" name="Picture 29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General · 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Avisos en el navegador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Además del correo, hay notificaciones push para no perderse oportunidades.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Nueva subasta:  </a:t>
            </a:r>
            <a:r>
              <a:rPr sz="1450" b="0">
                <a:solidFill>
                  <a:srgbClr val="52525B"/>
                </a:solidFill>
                <a:latin typeface="Calibri"/>
              </a:rPr>
              <a:t>cuando una subasta de su segmento sale en vivo, los compradores reciben un aviso: «Nueva subasta · {vehículo}».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177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186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Preferencias:  </a:t>
            </a:r>
            <a:r>
              <a:rPr sz="1450" b="0">
                <a:solidFill>
                  <a:srgbClr val="52525B"/>
                </a:solidFill>
                <a:latin typeface="Calibri"/>
              </a:rPr>
              <a:t>cada usuario elige qué avisos quiere recibir (te superaron, ganaste, nuevas subastas).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7847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General · 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Configuración y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Lo que sostiene a la plataforma por detrás.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798064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DATOS DE EMPRESA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Todo configurable, sin tocar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Desde el panel de admin se ajustan los parámetros del negocio.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Moneda:  </a:t>
            </a:r>
            <a:r>
              <a:rPr sz="1450" b="0">
                <a:solidFill>
                  <a:srgbClr val="52525B"/>
                </a:solidFill>
                <a:latin typeface="Calibri"/>
              </a:rPr>
              <a:t>USD o guaraníes, con tipo de cambio y vista secundaria.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177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186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Pujas:  </a:t>
            </a:r>
            <a:r>
              <a:rPr sz="1450" b="0">
                <a:solidFill>
                  <a:srgbClr val="52525B"/>
                </a:solidFill>
                <a:latin typeface="Calibri"/>
              </a:rPr>
              <a:t>incremento fijo y segundos de anti-sniping.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7847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856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Financiación:  </a:t>
            </a:r>
            <a:r>
              <a:rPr sz="1450" b="0">
                <a:solidFill>
                  <a:srgbClr val="52525B"/>
                </a:solidFill>
                <a:latin typeface="Calibri"/>
              </a:rPr>
              <a:t>cuotas, tasa, anticipo y montos mínimos.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516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352544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Pagos:  </a:t>
            </a:r>
            <a:r>
              <a:rPr sz="1450" b="0">
                <a:solidFill>
                  <a:srgbClr val="52525B"/>
                </a:solidFill>
                <a:latin typeface="Calibri"/>
              </a:rPr>
              <a:t>cuenta bancaria, porcentaje de seña, plazo e instrucciones.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1857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General · 13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773936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Confianza por 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Permisos por rol:  </a:t>
            </a:r>
            <a:r>
              <a:rPr sz="1450" b="0">
                <a:solidFill>
                  <a:srgbClr val="52525B"/>
                </a:solidFill>
                <a:latin typeface="Calibri"/>
              </a:rPr>
              <a:t>el servidor verifica el rol en cada acción; nadie hace lo que no le toca.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7605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614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Segmentos aislados:  </a:t>
            </a:r>
            <a:r>
              <a:rPr sz="1450" b="0">
                <a:solidFill>
                  <a:srgbClr val="52525B"/>
                </a:solidFill>
                <a:latin typeface="Calibri"/>
              </a:rPr>
              <a:t>retail y wholesale separados por reglas, no por la interfaz.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3275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3284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Anti-manipulación:  </a:t>
            </a:r>
            <a:r>
              <a:rPr sz="1450" b="0">
                <a:solidFill>
                  <a:srgbClr val="52525B"/>
                </a:solidFill>
                <a:latin typeface="Calibri"/>
              </a:rPr>
              <a:t>el equipo no puede pujar; los límites de frecuencia frenan abusos.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8944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895344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Auditoría:  </a:t>
            </a:r>
            <a:r>
              <a:rPr sz="1450" b="0">
                <a:solidFill>
                  <a:srgbClr val="52525B"/>
                </a:solidFill>
                <a:latin typeface="Calibri"/>
              </a:rPr>
              <a:t>cada acción sensible queda registrada con quién, qué y cuándo.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46137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General · 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new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286000"/>
            <a:ext cx="1554480" cy="5541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3297343"/>
            <a:ext cx="10509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spc="-40">
                <a:solidFill>
                  <a:srgbClr val="FFFFFF"/>
                </a:solidFill>
                <a:latin typeface="Calibri"/>
              </a:rPr>
              <a:t>Esa es la plataforma, completa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11743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A1A1AA"/>
                </a:solidFill>
                <a:latin typeface="Calibri"/>
              </a:rPr>
              <a:t>Cada rol tiene su propio manual paso a paso.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95791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A1A1AA"/>
                </a:solidFill>
                <a:latin typeface="Calibri"/>
              </a:rPr>
              <a:t>Renew Subastas · Santa Rosa Automotores · Paraguay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